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8"/>
  </p:notesMasterIdLst>
  <p:sldIdLst>
    <p:sldId id="257" r:id="rId2"/>
    <p:sldId id="264" r:id="rId3"/>
    <p:sldId id="265" r:id="rId4"/>
    <p:sldId id="266" r:id="rId5"/>
    <p:sldId id="262" r:id="rId6"/>
    <p:sldId id="263" r:id="rId7"/>
  </p:sldIdLst>
  <p:sldSz cx="12192000" cy="6858000"/>
  <p:notesSz cx="6858000" cy="9144000"/>
  <p:defaultTextStyle>
    <a:defPPr>
      <a:defRPr lang="en-US"/>
    </a:defPPr>
    <a:lvl1pPr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91" d="100"/>
          <a:sy n="91" d="100"/>
        </p:scale>
        <p:origin x="972" y="9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Rectangle 28">
            <a:extLst>
              <a:ext uri="{FF2B5EF4-FFF2-40B4-BE49-F238E27FC236}">
                <a16:creationId xmlns:a16="http://schemas.microsoft.com/office/drawing/2014/main" id="{705B1F3E-9093-4721-8C47-79A7BB8FFBBD}"/>
              </a:ext>
            </a:extLst>
          </p:cNvPr>
          <p:cNvSpPr>
            <a:spLocks noGrp="1"/>
          </p:cNvSpPr>
          <p:nvPr/>
        </p:nvSpPr>
        <p:spPr>
          <a:xfrm>
            <a:off x="400050" y="361950"/>
            <a:ext cx="2857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50" b="1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555555"/>
                </a:solidFill>
                <a:latin typeface="Helvetica Neue"/>
                <a:ea typeface="Helvetica Neue"/>
                <a:cs typeface="Helvetica Neue"/>
              </a:rPr>
              <a:t>DAY 2 MORNING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487F4023-C534-4D10-B75D-27A739800FF2}"/>
              </a:ext>
            </a:extLst>
          </p:cNvPr>
          <p:cNvSpPr>
            <a:spLocks noGrp="1"/>
          </p:cNvSpPr>
          <p:nvPr/>
        </p:nvSpPr>
        <p:spPr>
          <a:xfrm>
            <a:off x="400050" y="781050"/>
            <a:ext cx="7905750" cy="1238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36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600" b="1" dirty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Day 1 covered the full path from Python to </a:t>
            </a:r>
            <a:r>
              <a:rPr lang="en-US" sz="3600" b="1" dirty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Data Science</a:t>
            </a:r>
            <a:endParaRPr sz="3600" b="1" dirty="0">
              <a:solidFill>
                <a:srgbClr val="000000"/>
              </a:solidFill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0EAF756E-5508-4711-9EE8-60A02E05AA9F}"/>
              </a:ext>
            </a:extLst>
          </p:cNvPr>
          <p:cNvSpPr>
            <a:spLocks noGrp="1"/>
          </p:cNvSpPr>
          <p:nvPr/>
        </p:nvSpPr>
        <p:spPr>
          <a:xfrm>
            <a:off x="400050" y="2019300"/>
            <a:ext cx="7239000" cy="628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650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 dirty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rPr>
              <a:t>The review is broader than coding basics: students practiced data investigation, simulation habits, and an end-to-end classification workflow.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F6131096-3C6E-450A-A1EA-CA7AAD7646CB}"/>
              </a:ext>
            </a:extLst>
          </p:cNvPr>
          <p:cNvSpPr>
            <a:spLocks noGrp="1"/>
          </p:cNvSpPr>
          <p:nvPr/>
        </p:nvSpPr>
        <p:spPr>
          <a:xfrm>
            <a:off x="400050" y="6343650"/>
            <a:ext cx="11391900" cy="9525"/>
          </a:xfrm>
          <a:prstGeom prst="rect">
            <a:avLst/>
          </a:prstGeom>
          <a:solidFill>
            <a:srgbClr val="B8BCC4"/>
          </a:solidFill>
          <a:ln w="0">
            <a:solidFill>
              <a:srgbClr val="B8BCC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8AD8897D-1DC6-4860-82E7-BE16C7EC8272}"/>
              </a:ext>
            </a:extLst>
          </p:cNvPr>
          <p:cNvSpPr>
            <a:spLocks noGrp="1"/>
          </p:cNvSpPr>
          <p:nvPr/>
        </p:nvSpPr>
        <p:spPr>
          <a:xfrm>
            <a:off x="609600" y="2895600"/>
            <a:ext cx="47625" cy="342900"/>
          </a:xfrm>
          <a:prstGeom prst="rect">
            <a:avLst/>
          </a:prstGeom>
          <a:solidFill>
            <a:srgbClr val="FF6B35"/>
          </a:solidFill>
          <a:ln w="0">
            <a:solidFill>
              <a:srgbClr val="FF6B3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5CFBFDB8-EF81-45B4-A201-75A7ABA3EA0B}"/>
              </a:ext>
            </a:extLst>
          </p:cNvPr>
          <p:cNvSpPr>
            <a:spLocks noGrp="1"/>
          </p:cNvSpPr>
          <p:nvPr/>
        </p:nvSpPr>
        <p:spPr>
          <a:xfrm>
            <a:off x="857250" y="2819400"/>
            <a:ext cx="31432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6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Notebook and Python basics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20FDC28D-0173-497D-A6AF-4BF0AFBEE467}"/>
              </a:ext>
            </a:extLst>
          </p:cNvPr>
          <p:cNvSpPr>
            <a:spLocks noGrp="1"/>
          </p:cNvSpPr>
          <p:nvPr/>
        </p:nvSpPr>
        <p:spPr>
          <a:xfrm>
            <a:off x="4171950" y="2838450"/>
            <a:ext cx="68580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rPr>
              <a:t>Jupyter workflow; numpy, pandas, and matplotlib; variables, expressions, types, functions, lists, and arrays.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9E691CBB-4DE6-480D-9EBF-FD68787A3525}"/>
              </a:ext>
            </a:extLst>
          </p:cNvPr>
          <p:cNvSpPr>
            <a:spLocks noGrp="1"/>
          </p:cNvSpPr>
          <p:nvPr/>
        </p:nvSpPr>
        <p:spPr>
          <a:xfrm>
            <a:off x="857250" y="3286125"/>
            <a:ext cx="10172700" cy="9525"/>
          </a:xfrm>
          <a:prstGeom prst="rect">
            <a:avLst/>
          </a:prstGeom>
          <a:solidFill>
            <a:srgbClr val="B8BCC4"/>
          </a:solidFill>
          <a:ln w="0">
            <a:solidFill>
              <a:srgbClr val="B8BCC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192AC56D-6875-4D66-87FE-1867F6F91945}"/>
              </a:ext>
            </a:extLst>
          </p:cNvPr>
          <p:cNvSpPr>
            <a:spLocks noGrp="1"/>
          </p:cNvSpPr>
          <p:nvPr/>
        </p:nvSpPr>
        <p:spPr>
          <a:xfrm>
            <a:off x="609600" y="3419475"/>
            <a:ext cx="47625" cy="342900"/>
          </a:xfrm>
          <a:prstGeom prst="rect">
            <a:avLst/>
          </a:prstGeom>
          <a:solidFill>
            <a:srgbClr val="FF6B35"/>
          </a:solidFill>
          <a:ln w="0">
            <a:solidFill>
              <a:srgbClr val="FF6B3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6DBD0ACC-DE15-467F-BD78-6BE9A0B1DC7F}"/>
              </a:ext>
            </a:extLst>
          </p:cNvPr>
          <p:cNvSpPr>
            <a:spLocks noGrp="1"/>
          </p:cNvSpPr>
          <p:nvPr/>
        </p:nvSpPr>
        <p:spPr>
          <a:xfrm>
            <a:off x="857250" y="3343275"/>
            <a:ext cx="31432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6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Exploring real flu data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C74F45DE-C9FA-417D-924A-635DB58DE66C}"/>
              </a:ext>
            </a:extLst>
          </p:cNvPr>
          <p:cNvSpPr>
            <a:spLocks noGrp="1"/>
          </p:cNvSpPr>
          <p:nvPr/>
        </p:nvSpPr>
        <p:spPr>
          <a:xfrm>
            <a:off x="4171950" y="3362325"/>
            <a:ext cx="68580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 dirty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rPr>
              <a:t>Loaded Arizona flu hospitalizations, inspected tables, smoothed noisy daily counts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C19885A2-3EAE-4BE7-BC8C-6AA5A9CB1564}"/>
              </a:ext>
            </a:extLst>
          </p:cNvPr>
          <p:cNvSpPr>
            <a:spLocks noGrp="1"/>
          </p:cNvSpPr>
          <p:nvPr/>
        </p:nvSpPr>
        <p:spPr>
          <a:xfrm>
            <a:off x="857250" y="3810000"/>
            <a:ext cx="10172700" cy="9525"/>
          </a:xfrm>
          <a:prstGeom prst="rect">
            <a:avLst/>
          </a:prstGeom>
          <a:solidFill>
            <a:srgbClr val="B8BCC4"/>
          </a:solidFill>
          <a:ln w="0">
            <a:solidFill>
              <a:srgbClr val="B8BCC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DB1DA818-DF9C-4287-BAF2-4A6293863522}"/>
              </a:ext>
            </a:extLst>
          </p:cNvPr>
          <p:cNvSpPr>
            <a:spLocks noGrp="1"/>
          </p:cNvSpPr>
          <p:nvPr/>
        </p:nvSpPr>
        <p:spPr>
          <a:xfrm>
            <a:off x="609600" y="3943350"/>
            <a:ext cx="47625" cy="342900"/>
          </a:xfrm>
          <a:prstGeom prst="rect">
            <a:avLst/>
          </a:prstGeom>
          <a:solidFill>
            <a:srgbClr val="FF6B35"/>
          </a:solidFill>
          <a:ln w="0">
            <a:solidFill>
              <a:srgbClr val="FF6B3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B8E98322-F24D-4978-9667-D646C754F4D2}"/>
              </a:ext>
            </a:extLst>
          </p:cNvPr>
          <p:cNvSpPr>
            <a:spLocks noGrp="1"/>
          </p:cNvSpPr>
          <p:nvPr/>
        </p:nvSpPr>
        <p:spPr>
          <a:xfrm>
            <a:off x="857250" y="3867150"/>
            <a:ext cx="31432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6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 dirty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Visualization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D1B6CF04-CC5E-4E48-95FE-CFFF1F8F264B}"/>
              </a:ext>
            </a:extLst>
          </p:cNvPr>
          <p:cNvSpPr>
            <a:spLocks noGrp="1"/>
          </p:cNvSpPr>
          <p:nvPr/>
        </p:nvSpPr>
        <p:spPr>
          <a:xfrm>
            <a:off x="4171950" y="3886200"/>
            <a:ext cx="68580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 dirty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rPr>
              <a:t>Used line, bar, histogram, scatter, box, and heat-map views; practiced loops, conditionals, accumulators, while-loops, and Fibonacci.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6A779940-9FB4-454C-A8C8-34BAF5030306}"/>
              </a:ext>
            </a:extLst>
          </p:cNvPr>
          <p:cNvSpPr>
            <a:spLocks noGrp="1"/>
          </p:cNvSpPr>
          <p:nvPr/>
        </p:nvSpPr>
        <p:spPr>
          <a:xfrm>
            <a:off x="857250" y="4333875"/>
            <a:ext cx="10172700" cy="9525"/>
          </a:xfrm>
          <a:prstGeom prst="rect">
            <a:avLst/>
          </a:prstGeom>
          <a:solidFill>
            <a:srgbClr val="B8BCC4"/>
          </a:solidFill>
          <a:ln w="0">
            <a:solidFill>
              <a:srgbClr val="B8BCC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8D6EAC57-D11F-4AD4-847D-83229E69E14E}"/>
              </a:ext>
            </a:extLst>
          </p:cNvPr>
          <p:cNvSpPr>
            <a:spLocks noGrp="1"/>
          </p:cNvSpPr>
          <p:nvPr/>
        </p:nvSpPr>
        <p:spPr>
          <a:xfrm>
            <a:off x="609600" y="4467225"/>
            <a:ext cx="47625" cy="342900"/>
          </a:xfrm>
          <a:prstGeom prst="rect">
            <a:avLst/>
          </a:prstGeom>
          <a:solidFill>
            <a:srgbClr val="1F5C99"/>
          </a:solidFill>
          <a:ln w="0">
            <a:solidFill>
              <a:srgbClr val="1F5C9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3D58CEBC-30EB-4E94-A5EE-AD6D2B7BD815}"/>
              </a:ext>
            </a:extLst>
          </p:cNvPr>
          <p:cNvSpPr>
            <a:spLocks noGrp="1"/>
          </p:cNvSpPr>
          <p:nvPr/>
        </p:nvSpPr>
        <p:spPr>
          <a:xfrm>
            <a:off x="857250" y="4433065"/>
            <a:ext cx="31432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650" b="1">
                <a:solidFill>
                  <a:srgbClr val="1F5C9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 dirty="0">
                <a:solidFill>
                  <a:srgbClr val="1F5C99"/>
                </a:solidFill>
                <a:latin typeface="Helvetica Neue"/>
                <a:ea typeface="Helvetica Neue"/>
                <a:cs typeface="Helvetica Neue"/>
              </a:rPr>
              <a:t>Introduction to </a:t>
            </a:r>
            <a:r>
              <a:rPr lang="en-US" sz="1650" b="1" dirty="0">
                <a:solidFill>
                  <a:srgbClr val="1F5C99"/>
                </a:solidFill>
                <a:latin typeface="Helvetica Neue"/>
                <a:ea typeface="Helvetica Neue"/>
                <a:cs typeface="Helvetica Neue"/>
              </a:rPr>
              <a:t>ML</a:t>
            </a:r>
            <a:endParaRPr sz="1650" b="1" dirty="0">
              <a:solidFill>
                <a:srgbClr val="1F5C99"/>
              </a:solidFill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ED8C83C5-33CF-4A97-B29C-3DCD08619D9C}"/>
              </a:ext>
            </a:extLst>
          </p:cNvPr>
          <p:cNvSpPr>
            <a:spLocks noGrp="1"/>
          </p:cNvSpPr>
          <p:nvPr/>
        </p:nvSpPr>
        <p:spPr>
          <a:xfrm>
            <a:off x="4171950" y="4410075"/>
            <a:ext cx="68580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rPr>
              <a:t>Framed data science, AI, ML, and deep learning; compared ML types, supervised problem types, and traditional modeling versus ML.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951BE7B5-F865-420D-9A7A-103CE4136EAD}"/>
              </a:ext>
            </a:extLst>
          </p:cNvPr>
          <p:cNvSpPr>
            <a:spLocks noGrp="1"/>
          </p:cNvSpPr>
          <p:nvPr/>
        </p:nvSpPr>
        <p:spPr>
          <a:xfrm>
            <a:off x="857250" y="4857750"/>
            <a:ext cx="10172700" cy="9525"/>
          </a:xfrm>
          <a:prstGeom prst="rect">
            <a:avLst/>
          </a:prstGeom>
          <a:solidFill>
            <a:srgbClr val="B8BCC4"/>
          </a:solidFill>
          <a:ln w="0">
            <a:solidFill>
              <a:srgbClr val="B8BCC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A9CEE5D5-3BE9-4275-A078-1CA6E58EF25A}"/>
              </a:ext>
            </a:extLst>
          </p:cNvPr>
          <p:cNvSpPr>
            <a:spLocks noGrp="1"/>
          </p:cNvSpPr>
          <p:nvPr/>
        </p:nvSpPr>
        <p:spPr>
          <a:xfrm>
            <a:off x="609600" y="4991100"/>
            <a:ext cx="47625" cy="342900"/>
          </a:xfrm>
          <a:prstGeom prst="rect">
            <a:avLst/>
          </a:prstGeom>
          <a:solidFill>
            <a:srgbClr val="1F5C99"/>
          </a:solidFill>
          <a:ln w="0">
            <a:solidFill>
              <a:srgbClr val="1F5C9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34BFD861-890F-4D26-9D7C-E0FE9D60889D}"/>
              </a:ext>
            </a:extLst>
          </p:cNvPr>
          <p:cNvSpPr>
            <a:spLocks noGrp="1"/>
          </p:cNvSpPr>
          <p:nvPr/>
        </p:nvSpPr>
        <p:spPr>
          <a:xfrm>
            <a:off x="857250" y="4914900"/>
            <a:ext cx="31432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650" b="1">
                <a:solidFill>
                  <a:srgbClr val="1F5C9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1F5C99"/>
                </a:solidFill>
                <a:latin typeface="Helvetica Neue"/>
                <a:ea typeface="Helvetica Neue"/>
                <a:cs typeface="Helvetica Neue"/>
              </a:rPr>
              <a:t>ML project lifecycle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A047A67C-5D36-4858-B38E-605491C2D71B}"/>
              </a:ext>
            </a:extLst>
          </p:cNvPr>
          <p:cNvSpPr>
            <a:spLocks noGrp="1"/>
          </p:cNvSpPr>
          <p:nvPr/>
        </p:nvSpPr>
        <p:spPr>
          <a:xfrm>
            <a:off x="4171950" y="4933950"/>
            <a:ext cx="68580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rPr>
              <a:t>Worked through data import, processing, visualization, model training, comparison, and evaluation.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E76A5352-4C33-404C-9146-075591994C67}"/>
              </a:ext>
            </a:extLst>
          </p:cNvPr>
          <p:cNvSpPr>
            <a:spLocks noGrp="1"/>
          </p:cNvSpPr>
          <p:nvPr/>
        </p:nvSpPr>
        <p:spPr>
          <a:xfrm>
            <a:off x="857250" y="5381625"/>
            <a:ext cx="10172700" cy="9525"/>
          </a:xfrm>
          <a:prstGeom prst="rect">
            <a:avLst/>
          </a:prstGeom>
          <a:solidFill>
            <a:srgbClr val="B8BCC4"/>
          </a:solidFill>
          <a:ln w="0">
            <a:solidFill>
              <a:srgbClr val="B8BCC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5B48EBD2-742E-485E-9182-C07B844BE746}"/>
              </a:ext>
            </a:extLst>
          </p:cNvPr>
          <p:cNvSpPr>
            <a:spLocks noGrp="1"/>
          </p:cNvSpPr>
          <p:nvPr/>
        </p:nvSpPr>
        <p:spPr>
          <a:xfrm>
            <a:off x="609600" y="5514975"/>
            <a:ext cx="47625" cy="342900"/>
          </a:xfrm>
          <a:prstGeom prst="rect">
            <a:avLst/>
          </a:prstGeom>
          <a:solidFill>
            <a:srgbClr val="1F5C99"/>
          </a:solidFill>
          <a:ln w="0">
            <a:solidFill>
              <a:srgbClr val="1F5C9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943A8658-618C-456E-8303-2CC4D27D79A6}"/>
              </a:ext>
            </a:extLst>
          </p:cNvPr>
          <p:cNvSpPr>
            <a:spLocks noGrp="1"/>
          </p:cNvSpPr>
          <p:nvPr/>
        </p:nvSpPr>
        <p:spPr>
          <a:xfrm>
            <a:off x="857250" y="5438775"/>
            <a:ext cx="31432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650" b="1">
                <a:solidFill>
                  <a:srgbClr val="1F5C9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1F5C99"/>
                </a:solidFill>
                <a:latin typeface="Helvetica Neue"/>
                <a:ea typeface="Helvetica Neue"/>
                <a:cs typeface="Helvetica Neue"/>
              </a:rPr>
              <a:t>Heart disease classification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C3E274D5-9C48-42C5-BDB8-452E66A25D55}"/>
              </a:ext>
            </a:extLst>
          </p:cNvPr>
          <p:cNvSpPr>
            <a:spLocks noGrp="1"/>
          </p:cNvSpPr>
          <p:nvPr/>
        </p:nvSpPr>
        <p:spPr>
          <a:xfrm>
            <a:off x="4171950" y="5457825"/>
            <a:ext cx="68580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 dirty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rPr>
              <a:t>Built binary classifiers with logistic regression, random forests, and neural networks with one or multiple hidden layers.</a:t>
            </a:r>
          </a:p>
        </p:txBody>
      </p:sp>
    </p:spTree>
    <p:extLst>
      <p:ext uri="{BB962C8B-B14F-4D97-AF65-F5344CB8AC3E}">
        <p14:creationId xmlns:p14="http://schemas.microsoft.com/office/powerpoint/2010/main" val="57573817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C6D78F-F7AC-DEC5-AB46-CB3DC50A147C}"/>
              </a:ext>
            </a:extLst>
          </p:cNvPr>
          <p:cNvSpPr txBox="1">
            <a:spLocks/>
          </p:cNvSpPr>
          <p:nvPr/>
        </p:nvSpPr>
        <p:spPr>
          <a:xfrm>
            <a:off x="606918" y="262762"/>
            <a:ext cx="10972800" cy="985093"/>
          </a:xfrm>
          <a:prstGeom prst="rect">
            <a:avLst/>
          </a:prstGeom>
        </p:spPr>
        <p:txBody>
          <a:bodyPr/>
          <a:lstStyle>
            <a:lvl1pPr algn="l">
              <a:lnSpc>
                <a:spcPct val="90000"/>
              </a:lnSpc>
              <a:spcBef>
                <a:spcPts val="0"/>
              </a:spcBef>
              <a:buNone/>
              <a:defRPr sz="4400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</a:lstStyle>
          <a:p>
            <a:r>
              <a:rPr lang="en-US" kern="0" dirty="0">
                <a:solidFill>
                  <a:schemeClr val="accent2">
                    <a:lumMod val="75000"/>
                  </a:schemeClr>
                </a:solidFill>
              </a:rPr>
              <a:t>Why Flu Forecasting Matters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6B52234-2AD3-7087-71A3-8CCFC94C3D4B}"/>
              </a:ext>
            </a:extLst>
          </p:cNvPr>
          <p:cNvSpPr txBox="1">
            <a:spLocks/>
          </p:cNvSpPr>
          <p:nvPr/>
        </p:nvSpPr>
        <p:spPr>
          <a:xfrm>
            <a:off x="609600" y="1131636"/>
            <a:ext cx="5683045" cy="5194128"/>
          </a:xfrm>
          <a:prstGeom prst="rect">
            <a:avLst/>
          </a:prstGeom>
        </p:spPr>
        <p:txBody>
          <a:bodyPr/>
          <a:lstStyle>
            <a:lvl1pPr marL="228600" indent="-228600" algn="l">
              <a:lnSpc>
                <a:spcPct val="90000"/>
              </a:lnSpc>
              <a:spcBef>
                <a:spcPts val="1000"/>
              </a:spcBef>
              <a:buChar char="•"/>
              <a:defRPr sz="2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>
              <a:lnSpc>
                <a:spcPct val="90000"/>
              </a:lnSpc>
              <a:spcBef>
                <a:spcPts val="500"/>
              </a:spcBef>
              <a:buChar char="•"/>
              <a:defRPr sz="24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>
              <a:lnSpc>
                <a:spcPct val="90000"/>
              </a:lnSpc>
              <a:spcBef>
                <a:spcPts val="500"/>
              </a:spcBef>
              <a:buChar char="•"/>
              <a:defRPr sz="20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pPr marL="114300" indent="0">
              <a:buFontTx/>
              <a:buNone/>
            </a:pPr>
            <a:r>
              <a:rPr lang="en-US" sz="2000" b="1" kern="0" dirty="0"/>
              <a:t>Public Health Impact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kern="0" dirty="0"/>
              <a:t>Annual burden in the U.S.: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800" kern="0" dirty="0"/>
              <a:t>~9–41 million illnesses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800" kern="0" dirty="0"/>
              <a:t>~140,000–710,000 hospitalizations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800" kern="0" dirty="0"/>
              <a:t>~12,000–52,000 deaths</a:t>
            </a:r>
            <a:br>
              <a:rPr lang="en-US" sz="1800" kern="0" dirty="0"/>
            </a:br>
            <a:r>
              <a:rPr lang="en-US" sz="1800" i="1" kern="0" dirty="0"/>
              <a:t>(Source: CDC, varies by season)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n-US" sz="1800" i="1" kern="0" dirty="0"/>
          </a:p>
          <a:p>
            <a:pPr marL="114300" indent="0">
              <a:buFontTx/>
              <a:buNone/>
            </a:pPr>
            <a:r>
              <a:rPr lang="en-US" sz="2000" b="1" kern="0" dirty="0"/>
              <a:t>Why Forecasting Helps</a:t>
            </a:r>
          </a:p>
          <a:p>
            <a:r>
              <a:rPr lang="en-US" sz="2000" kern="0" dirty="0"/>
              <a:t>early warning and prevention</a:t>
            </a:r>
          </a:p>
          <a:p>
            <a:r>
              <a:rPr lang="en-US" sz="2000" kern="0" dirty="0"/>
              <a:t>optimized resource allocation</a:t>
            </a:r>
          </a:p>
          <a:p>
            <a:r>
              <a:rPr lang="en-US" sz="2000" kern="0" dirty="0"/>
              <a:t>informed decision-making</a:t>
            </a:r>
          </a:p>
          <a:p>
            <a:r>
              <a:rPr lang="en-US" sz="2000" kern="0" dirty="0"/>
              <a:t>reduced economic and health impact</a:t>
            </a:r>
          </a:p>
          <a:p>
            <a:r>
              <a:rPr lang="en-US" sz="2000" kern="0" dirty="0"/>
              <a:t>enhanced public awareness</a:t>
            </a:r>
          </a:p>
          <a:p>
            <a:r>
              <a:rPr lang="en-US" sz="2000" kern="0" dirty="0"/>
              <a:t>future preparedness</a:t>
            </a:r>
          </a:p>
          <a:p>
            <a:pPr>
              <a:buFont typeface="Arial" panose="020B0604020202020204" pitchFamily="34" charset="0"/>
              <a:buChar char="•"/>
            </a:pPr>
            <a:endParaRPr lang="en-US" sz="2000" kern="0" dirty="0"/>
          </a:p>
        </p:txBody>
      </p:sp>
      <p:sp>
        <p:nvSpPr>
          <p:cNvPr id="4" name="Text Placeholder 2">
            <a:extLst>
              <a:ext uri="{FF2B5EF4-FFF2-40B4-BE49-F238E27FC236}">
                <a16:creationId xmlns:a16="http://schemas.microsoft.com/office/drawing/2014/main" id="{46B2E092-1CBE-F63B-ACD1-4E5245B9BA29}"/>
              </a:ext>
            </a:extLst>
          </p:cNvPr>
          <p:cNvSpPr txBox="1">
            <a:spLocks/>
          </p:cNvSpPr>
          <p:nvPr/>
        </p:nvSpPr>
        <p:spPr>
          <a:xfrm>
            <a:off x="6292645" y="1131636"/>
            <a:ext cx="5683045" cy="51941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1" i="0" u="none" strike="noStrike" cap="none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defRPr>
            </a:lvl1pPr>
            <a:lvl2pPr marL="914400" marR="0" lvl="1" indent="-3302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–"/>
              <a:defRPr sz="1600" b="0" i="0" u="none" strike="noStrike" cap="none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defRPr>
            </a:lvl2pPr>
            <a:lvl3pPr marL="1371600" marR="0" lvl="2" indent="-317500" algn="l" rtl="0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defRPr>
            </a:lvl3pPr>
            <a:lvl4pPr marL="1828800" marR="0" lvl="3" indent="-304800" algn="l" rtl="0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–"/>
              <a:defRPr sz="1200" b="0" i="0" u="none" strike="noStrike" cap="none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defRPr>
            </a:lvl4pPr>
            <a:lvl5pPr marL="2286000" marR="0" lvl="4" indent="-304800" algn="l" rtl="0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»"/>
              <a:defRPr sz="1200" b="0" i="0" u="none" strike="noStrike" cap="none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defRPr>
            </a:lvl5pPr>
            <a:lvl6pPr marL="2743200" marR="0" lvl="5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114300" indent="0">
              <a:buNone/>
            </a:pPr>
            <a:r>
              <a:rPr lang="en-US" sz="1800" b="1" dirty="0">
                <a:solidFill>
                  <a:schemeClr val="dk1"/>
                </a:solidFill>
                <a:latin typeface="Cambria"/>
                <a:ea typeface="Cambria"/>
                <a:sym typeface="Cambria"/>
              </a:rPr>
              <a:t>Challenges of Flu Forecasting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0" dirty="0">
                <a:solidFill>
                  <a:schemeClr val="dk1"/>
                </a:solidFill>
                <a:latin typeface="Cambria"/>
                <a:ea typeface="Cambria"/>
                <a:sym typeface="Cambria"/>
              </a:rPr>
              <a:t>Seasonal variation: timing, peak, and intensity change each year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0" dirty="0">
                <a:solidFill>
                  <a:schemeClr val="dk1"/>
                </a:solidFill>
                <a:latin typeface="Cambria"/>
                <a:ea typeface="Cambria"/>
                <a:sym typeface="Cambria"/>
              </a:rPr>
              <a:t>Multiple circulating strains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0" dirty="0">
                <a:solidFill>
                  <a:schemeClr val="dk1"/>
                </a:solidFill>
                <a:latin typeface="Cambria"/>
                <a:ea typeface="Cambria"/>
                <a:sym typeface="Cambria"/>
              </a:rPr>
              <a:t>Delays and noise in surveillance data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0" dirty="0">
                <a:solidFill>
                  <a:schemeClr val="dk1"/>
                </a:solidFill>
                <a:latin typeface="Cambria"/>
                <a:ea typeface="Cambria"/>
                <a:sym typeface="Cambria"/>
              </a:rPr>
              <a:t>Geographic heterogeneity: </a:t>
            </a:r>
            <a:r>
              <a:rPr lang="en-US" b="0" dirty="0"/>
              <a:t>weather and human behavior </a:t>
            </a:r>
          </a:p>
        </p:txBody>
      </p:sp>
      <p:pic>
        <p:nvPicPr>
          <p:cNvPr id="5" name="Picture 2" descr="Plot of national ensemble forecasts for new influenza hospital admissions.">
            <a:extLst>
              <a:ext uri="{FF2B5EF4-FFF2-40B4-BE49-F238E27FC236}">
                <a16:creationId xmlns:a16="http://schemas.microsoft.com/office/drawing/2014/main" id="{BF933BD6-6C2E-FF74-7BFA-977834C8014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88615" y="3454256"/>
            <a:ext cx="4891103" cy="279528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00359346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61;p6">
            <a:extLst>
              <a:ext uri="{FF2B5EF4-FFF2-40B4-BE49-F238E27FC236}">
                <a16:creationId xmlns:a16="http://schemas.microsoft.com/office/drawing/2014/main" id="{8688A4E5-0F53-4045-A897-6D7AFBBE3D5F}"/>
              </a:ext>
            </a:extLst>
          </p:cNvPr>
          <p:cNvSpPr txBox="1">
            <a:spLocks/>
          </p:cNvSpPr>
          <p:nvPr/>
        </p:nvSpPr>
        <p:spPr>
          <a:xfrm>
            <a:off x="609600" y="3"/>
            <a:ext cx="10972800" cy="98509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algn="l">
              <a:lnSpc>
                <a:spcPct val="90000"/>
              </a:lnSpc>
              <a:spcBef>
                <a:spcPts val="0"/>
              </a:spcBef>
              <a:buNone/>
              <a:defRPr sz="4400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</a:lstStyle>
          <a:p>
            <a:pPr algn="ctr" rtl="0">
              <a:buClr>
                <a:srgbClr val="FFFFFF"/>
              </a:buClr>
              <a:buSzPts val="2800"/>
              <a:buFont typeface="Cambria"/>
              <a:buNone/>
            </a:pPr>
            <a:r>
              <a:rPr lang="en-US" kern="0"/>
              <a:t>CDC’s FluSight Challenge</a:t>
            </a:r>
            <a:endParaRPr lang="en-US" kern="0" dirty="0"/>
          </a:p>
        </p:txBody>
      </p:sp>
      <p:sp>
        <p:nvSpPr>
          <p:cNvPr id="3" name="Google Shape;62;p6">
            <a:extLst>
              <a:ext uri="{FF2B5EF4-FFF2-40B4-BE49-F238E27FC236}">
                <a16:creationId xmlns:a16="http://schemas.microsoft.com/office/drawing/2014/main" id="{57AAE938-C085-BD9C-9502-5A6FE2478C8C}"/>
              </a:ext>
            </a:extLst>
          </p:cNvPr>
          <p:cNvSpPr txBox="1">
            <a:spLocks/>
          </p:cNvSpPr>
          <p:nvPr/>
        </p:nvSpPr>
        <p:spPr>
          <a:xfrm>
            <a:off x="138674" y="1347508"/>
            <a:ext cx="4275281" cy="44010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228600" indent="-228600" algn="l">
              <a:lnSpc>
                <a:spcPct val="90000"/>
              </a:lnSpc>
              <a:spcBef>
                <a:spcPts val="1000"/>
              </a:spcBef>
              <a:buChar char="•"/>
              <a:defRPr sz="2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>
              <a:lnSpc>
                <a:spcPct val="90000"/>
              </a:lnSpc>
              <a:spcBef>
                <a:spcPts val="500"/>
              </a:spcBef>
              <a:buChar char="•"/>
              <a:defRPr sz="24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>
              <a:lnSpc>
                <a:spcPct val="90000"/>
              </a:lnSpc>
              <a:spcBef>
                <a:spcPts val="500"/>
              </a:spcBef>
              <a:buChar char="•"/>
              <a:defRPr sz="20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pPr marL="0" indent="0" rtl="0">
              <a:spcBef>
                <a:spcPts val="0"/>
              </a:spcBef>
              <a:buClr>
                <a:schemeClr val="dk1"/>
              </a:buClr>
              <a:buSzPts val="1800"/>
              <a:buFontTx/>
              <a:buNone/>
            </a:pPr>
            <a:r>
              <a:rPr lang="en-US" sz="1400" kern="0"/>
              <a:t>What It Is</a:t>
            </a:r>
          </a:p>
          <a:p>
            <a:pPr marL="171450" indent="-171450" rtl="0">
              <a:spcBef>
                <a:spcPts val="0"/>
              </a:spcBef>
              <a:buClr>
                <a:schemeClr val="dk1"/>
              </a:buClr>
              <a:buSzPts val="1800"/>
            </a:pPr>
            <a:r>
              <a:rPr lang="en-US" sz="1400" kern="0"/>
              <a:t>An annual forecasting challenge hosted by the CDC since 2013</a:t>
            </a:r>
          </a:p>
          <a:p>
            <a:pPr marL="171450" indent="-171450" rtl="0">
              <a:spcBef>
                <a:spcPts val="0"/>
              </a:spcBef>
              <a:buClr>
                <a:schemeClr val="dk1"/>
              </a:buClr>
              <a:buSzPts val="1800"/>
            </a:pPr>
            <a:r>
              <a:rPr lang="en-US" sz="1400" kern="0"/>
              <a:t>Brings together academic teams, government labs, and private groups</a:t>
            </a:r>
          </a:p>
          <a:p>
            <a:pPr marL="171450" indent="-171450" rtl="0">
              <a:spcBef>
                <a:spcPts val="0"/>
              </a:spcBef>
              <a:buClr>
                <a:schemeClr val="dk1"/>
              </a:buClr>
              <a:buSzPts val="1800"/>
            </a:pPr>
            <a:r>
              <a:rPr lang="en-US" sz="1400" kern="0"/>
              <a:t>Aims to improve real-time forecasts of seasonal influenza in the U.S.</a:t>
            </a:r>
          </a:p>
          <a:p>
            <a:pPr marL="171450" indent="-171450" rtl="0">
              <a:spcBef>
                <a:spcPts val="0"/>
              </a:spcBef>
              <a:buClr>
                <a:schemeClr val="dk1"/>
              </a:buClr>
              <a:buSzPts val="1800"/>
            </a:pPr>
            <a:endParaRPr lang="en-US" sz="1400" kern="0"/>
          </a:p>
          <a:p>
            <a:pPr marL="0" indent="0" rtl="0">
              <a:spcBef>
                <a:spcPts val="0"/>
              </a:spcBef>
              <a:buClr>
                <a:schemeClr val="dk1"/>
              </a:buClr>
              <a:buSzPts val="1800"/>
              <a:buFontTx/>
              <a:buNone/>
            </a:pPr>
            <a:r>
              <a:rPr lang="en-US" sz="1400" kern="0"/>
              <a:t>Goals of the Challenge</a:t>
            </a:r>
          </a:p>
          <a:p>
            <a:pPr marL="171450" indent="-171450" rtl="0">
              <a:spcBef>
                <a:spcPts val="0"/>
              </a:spcBef>
              <a:buClr>
                <a:schemeClr val="dk1"/>
              </a:buClr>
              <a:buSzPts val="1800"/>
            </a:pPr>
            <a:r>
              <a:rPr lang="en-US" sz="1400" kern="0"/>
              <a:t>Evaluate the accuracy and reliability of flu forecasts</a:t>
            </a:r>
          </a:p>
          <a:p>
            <a:pPr marL="171450" indent="-171450" rtl="0">
              <a:spcBef>
                <a:spcPts val="0"/>
              </a:spcBef>
              <a:buClr>
                <a:schemeClr val="dk1"/>
              </a:buClr>
              <a:buSzPts val="1800"/>
            </a:pPr>
            <a:r>
              <a:rPr lang="en-US" sz="1400" kern="0"/>
              <a:t>Improve tools for public health preparedness</a:t>
            </a:r>
          </a:p>
          <a:p>
            <a:pPr marL="171450" indent="-171450" rtl="0">
              <a:spcBef>
                <a:spcPts val="0"/>
              </a:spcBef>
              <a:buClr>
                <a:schemeClr val="dk1"/>
              </a:buClr>
              <a:buSzPts val="1800"/>
            </a:pPr>
            <a:r>
              <a:rPr lang="en-US" sz="1400" kern="0"/>
              <a:t>Encourage innovation in epidemiological modeling</a:t>
            </a:r>
          </a:p>
          <a:p>
            <a:pPr marL="171450" indent="-171450" rtl="0">
              <a:spcBef>
                <a:spcPts val="0"/>
              </a:spcBef>
              <a:buClr>
                <a:schemeClr val="dk1"/>
              </a:buClr>
              <a:buSzPts val="1800"/>
            </a:pPr>
            <a:endParaRPr lang="en-US" sz="1400" kern="0"/>
          </a:p>
          <a:p>
            <a:pPr marL="0" indent="0" rtl="0">
              <a:spcBef>
                <a:spcPts val="0"/>
              </a:spcBef>
              <a:buClr>
                <a:schemeClr val="dk1"/>
              </a:buClr>
              <a:buSzPts val="1800"/>
              <a:buFontTx/>
              <a:buNone/>
            </a:pPr>
            <a:r>
              <a:rPr lang="en-US" sz="1400" kern="0"/>
              <a:t>What Forecasts Are Submitted</a:t>
            </a:r>
          </a:p>
          <a:p>
            <a:pPr marL="171450" indent="-171450" rtl="0">
              <a:spcBef>
                <a:spcPts val="0"/>
              </a:spcBef>
              <a:buClr>
                <a:schemeClr val="dk1"/>
              </a:buClr>
              <a:buSzPts val="1800"/>
            </a:pPr>
            <a:r>
              <a:rPr lang="en-US" sz="1400" kern="0"/>
              <a:t>Onset week: When flu season begins</a:t>
            </a:r>
          </a:p>
          <a:p>
            <a:pPr marL="171450" indent="-171450" rtl="0">
              <a:spcBef>
                <a:spcPts val="0"/>
              </a:spcBef>
              <a:buClr>
                <a:schemeClr val="dk1"/>
              </a:buClr>
              <a:buSzPts val="1800"/>
            </a:pPr>
            <a:r>
              <a:rPr lang="en-US" sz="1400" kern="0"/>
              <a:t>Peak week: When flu activity will be highest</a:t>
            </a:r>
          </a:p>
          <a:p>
            <a:pPr marL="171450" indent="-171450" rtl="0">
              <a:spcBef>
                <a:spcPts val="0"/>
              </a:spcBef>
              <a:buClr>
                <a:schemeClr val="dk1"/>
              </a:buClr>
              <a:buSzPts val="1800"/>
            </a:pPr>
            <a:r>
              <a:rPr lang="en-US" sz="1400" kern="0"/>
              <a:t>Peak intensity: How high activity will be</a:t>
            </a:r>
          </a:p>
          <a:p>
            <a:pPr marL="171450" indent="-171450" rtl="0">
              <a:spcBef>
                <a:spcPts val="0"/>
              </a:spcBef>
              <a:buClr>
                <a:schemeClr val="dk1"/>
              </a:buClr>
              <a:buSzPts val="1800"/>
            </a:pPr>
            <a:r>
              <a:rPr lang="en-US" sz="1400" kern="0"/>
              <a:t>1–4 weeks ahead of hospitalization case counts</a:t>
            </a:r>
          </a:p>
          <a:p>
            <a:pPr marL="171450" indent="-171450" rtl="0">
              <a:spcBef>
                <a:spcPts val="0"/>
              </a:spcBef>
              <a:buClr>
                <a:schemeClr val="dk1"/>
              </a:buClr>
              <a:buSzPts val="1800"/>
            </a:pPr>
            <a:r>
              <a:rPr lang="en-US" sz="1400" kern="0"/>
              <a:t>State level and national level</a:t>
            </a:r>
          </a:p>
          <a:p>
            <a:pPr marL="171450" indent="-171450" rtl="0">
              <a:spcBef>
                <a:spcPts val="0"/>
              </a:spcBef>
              <a:buClr>
                <a:schemeClr val="dk1"/>
              </a:buClr>
              <a:buSzPts val="1800"/>
            </a:pPr>
            <a:endParaRPr lang="en-US" sz="1400" kern="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98E03B2-FFCF-FFB3-4C41-CC8F184F053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73168" y="1121561"/>
            <a:ext cx="7059168" cy="5126839"/>
          </a:xfrm>
          <a:prstGeom prst="rect">
            <a:avLst/>
          </a:prstGeom>
        </p:spPr>
      </p:pic>
      <p:sp>
        <p:nvSpPr>
          <p:cNvPr id="6" name="AutoShape 2">
            <a:extLst>
              <a:ext uri="{FF2B5EF4-FFF2-40B4-BE49-F238E27FC236}">
                <a16:creationId xmlns:a16="http://schemas.microsoft.com/office/drawing/2014/main" id="{CC5AD375-2C14-CCCE-319D-339B7FFA2716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86B2CAE-7A81-9955-FEFA-977DFEF7D97B}"/>
              </a:ext>
            </a:extLst>
          </p:cNvPr>
          <p:cNvSpPr txBox="1"/>
          <p:nvPr/>
        </p:nvSpPr>
        <p:spPr>
          <a:xfrm>
            <a:off x="6599209" y="6230976"/>
            <a:ext cx="6516546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https://www.cdc.gov/flu-forecasting/data-vis/current-week.html</a:t>
            </a:r>
          </a:p>
        </p:txBody>
      </p:sp>
    </p:spTree>
    <p:extLst>
      <p:ext uri="{BB962C8B-B14F-4D97-AF65-F5344CB8AC3E}">
        <p14:creationId xmlns:p14="http://schemas.microsoft.com/office/powerpoint/2010/main" val="134009420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F77117-0122-2AEE-ED14-F08D07CF2A88}"/>
              </a:ext>
            </a:extLst>
          </p:cNvPr>
          <p:cNvSpPr txBox="1">
            <a:spLocks/>
          </p:cNvSpPr>
          <p:nvPr/>
        </p:nvSpPr>
        <p:spPr>
          <a:xfrm>
            <a:off x="609600" y="3"/>
            <a:ext cx="10972800" cy="985093"/>
          </a:xfrm>
          <a:prstGeom prst="rect">
            <a:avLst/>
          </a:prstGeom>
        </p:spPr>
        <p:txBody>
          <a:bodyPr/>
          <a:lstStyle>
            <a:lvl1pPr algn="l">
              <a:lnSpc>
                <a:spcPct val="90000"/>
              </a:lnSpc>
              <a:spcBef>
                <a:spcPts val="0"/>
              </a:spcBef>
              <a:buNone/>
              <a:defRPr sz="4400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</a:lstStyle>
          <a:p>
            <a:r>
              <a:rPr lang="en-US" kern="0"/>
              <a:t>Overview of Real-Time Forecasting Approaches</a:t>
            </a:r>
            <a:endParaRPr lang="en-US" kern="0" dirty="0"/>
          </a:p>
        </p:txBody>
      </p:sp>
      <p:sp>
        <p:nvSpPr>
          <p:cNvPr id="3" name="Rectangle 7">
            <a:extLst>
              <a:ext uri="{FF2B5EF4-FFF2-40B4-BE49-F238E27FC236}">
                <a16:creationId xmlns:a16="http://schemas.microsoft.com/office/drawing/2014/main" id="{26D4BB41-D966-AD9A-C2F0-AAADCD905A7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853680" y="1459230"/>
            <a:ext cx="4338320" cy="393954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marL="228600" indent="-228600" algn="l">
              <a:lnSpc>
                <a:spcPct val="90000"/>
              </a:lnSpc>
              <a:spcBef>
                <a:spcPts val="1000"/>
              </a:spcBef>
              <a:buChar char="•"/>
              <a:defRPr sz="2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>
              <a:lnSpc>
                <a:spcPct val="90000"/>
              </a:lnSpc>
              <a:spcBef>
                <a:spcPts val="500"/>
              </a:spcBef>
              <a:buChar char="•"/>
              <a:defRPr sz="24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>
              <a:lnSpc>
                <a:spcPct val="90000"/>
              </a:lnSpc>
              <a:spcBef>
                <a:spcPts val="500"/>
              </a:spcBef>
              <a:buChar char="•"/>
              <a:defRPr sz="20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pPr marL="0" indent="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2000" kern="0" dirty="0">
                <a:solidFill>
                  <a:srgbClr val="1B1B1B"/>
                </a:solidFill>
                <a:latin typeface="Cambria" panose="02040503050406030204" pitchFamily="18" charset="0"/>
              </a:rPr>
              <a:t>Mechanistic models</a:t>
            </a:r>
          </a:p>
          <a:p>
            <a:pPr marL="0" indent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sz="2000" kern="0" dirty="0">
                <a:solidFill>
                  <a:srgbClr val="1B1B1B"/>
                </a:solidFill>
                <a:latin typeface="Cambria" panose="02040503050406030204" pitchFamily="18" charset="0"/>
              </a:rPr>
              <a:t>Statistical models</a:t>
            </a:r>
          </a:p>
          <a:p>
            <a:pPr marL="0" indent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sz="2000" kern="0" dirty="0">
                <a:solidFill>
                  <a:srgbClr val="1B1B1B"/>
                </a:solidFill>
                <a:latin typeface="Cambria" panose="02040503050406030204" pitchFamily="18" charset="0"/>
              </a:rPr>
              <a:t>Machine Learning models</a:t>
            </a:r>
          </a:p>
          <a:p>
            <a:pPr marL="0" indent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sz="2000" kern="0" dirty="0">
                <a:solidFill>
                  <a:srgbClr val="1B1B1B"/>
                </a:solidFill>
                <a:latin typeface="Cambria" panose="02040503050406030204" pitchFamily="18" charset="0"/>
              </a:rPr>
              <a:t>Phylodynamic models</a:t>
            </a:r>
          </a:p>
          <a:p>
            <a:pPr marL="0" indent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sz="2000" kern="0" dirty="0">
                <a:solidFill>
                  <a:srgbClr val="1B1B1B"/>
                </a:solidFill>
                <a:latin typeface="Cambria" panose="02040503050406030204" pitchFamily="18" charset="0"/>
              </a:rPr>
              <a:t>Digital Surveillance models</a:t>
            </a:r>
          </a:p>
          <a:p>
            <a:pPr marL="0" indent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sz="2000" kern="0" dirty="0">
                <a:solidFill>
                  <a:srgbClr val="1B1B1B"/>
                </a:solidFill>
                <a:latin typeface="Cambria" panose="02040503050406030204" pitchFamily="18" charset="0"/>
              </a:rPr>
              <a:t>Ensemble models</a:t>
            </a:r>
          </a:p>
          <a:p>
            <a:pPr marL="0" indent="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</a:pPr>
            <a:r>
              <a:rPr lang="en-US" sz="2000" kern="0" dirty="0">
                <a:solidFill>
                  <a:srgbClr val="1B1B1B"/>
                </a:solidFill>
                <a:latin typeface="Cambria" panose="02040503050406030204" pitchFamily="18" charset="0"/>
              </a:rPr>
              <a:t>Averaging across all forecast targets, the </a:t>
            </a:r>
            <a:r>
              <a:rPr lang="en-US" sz="2000" kern="0" dirty="0" err="1">
                <a:solidFill>
                  <a:srgbClr val="1B1B1B"/>
                </a:solidFill>
                <a:latin typeface="Cambria" panose="02040503050406030204" pitchFamily="18" charset="0"/>
              </a:rPr>
              <a:t>FluSight</a:t>
            </a:r>
            <a:r>
              <a:rPr lang="en-US" sz="2000" kern="0" dirty="0">
                <a:solidFill>
                  <a:srgbClr val="1B1B1B"/>
                </a:solidFill>
                <a:latin typeface="Cambria" panose="02040503050406030204" pitchFamily="18" charset="0"/>
              </a:rPr>
              <a:t> ensemble is the 2</a:t>
            </a:r>
            <a:r>
              <a:rPr lang="en-US" sz="2000" kern="0" baseline="30000" dirty="0">
                <a:solidFill>
                  <a:srgbClr val="1B1B1B"/>
                </a:solidFill>
                <a:latin typeface="Cambria" panose="02040503050406030204" pitchFamily="18" charset="0"/>
              </a:rPr>
              <a:t>nd</a:t>
            </a:r>
            <a:r>
              <a:rPr lang="en-US" sz="2000" kern="0" dirty="0">
                <a:solidFill>
                  <a:srgbClr val="1B1B1B"/>
                </a:solidFill>
                <a:latin typeface="Cambria" panose="02040503050406030204" pitchFamily="18" charset="0"/>
              </a:rPr>
              <a:t> most accurate model measured by WIS in 2021–22 and the 5</a:t>
            </a:r>
            <a:r>
              <a:rPr lang="en-US" sz="2000" kern="0" baseline="30000" dirty="0">
                <a:solidFill>
                  <a:srgbClr val="1B1B1B"/>
                </a:solidFill>
                <a:latin typeface="Cambria" panose="02040503050406030204" pitchFamily="18" charset="0"/>
              </a:rPr>
              <a:t>th</a:t>
            </a:r>
            <a:r>
              <a:rPr lang="en-US" sz="2000" kern="0" dirty="0">
                <a:solidFill>
                  <a:srgbClr val="1B1B1B"/>
                </a:solidFill>
                <a:latin typeface="Cambria" panose="02040503050406030204" pitchFamily="18" charset="0"/>
              </a:rPr>
              <a:t> most accurate in the 2022–23 season. </a:t>
            </a:r>
          </a:p>
          <a:p>
            <a:pPr marL="0" indent="0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2000" kern="0" dirty="0">
                <a:solidFill>
                  <a:srgbClr val="1B1B1B"/>
                </a:solidFill>
                <a:latin typeface="Cambria" panose="02040503050406030204" pitchFamily="18" charset="0"/>
              </a:rPr>
              <a:t>Real-time forecast: 9h from data release to result submission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9C1A686-204D-D3C1-7F6C-ECBF5D15F43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0761" y="1147001"/>
            <a:ext cx="7066407" cy="51634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1957542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 21">
            <a:extLst>
              <a:ext uri="{FF2B5EF4-FFF2-40B4-BE49-F238E27FC236}">
                <a16:creationId xmlns:a16="http://schemas.microsoft.com/office/drawing/2014/main" id="{2054E722-8BBD-4969-93A2-44B3086413B0}"/>
              </a:ext>
            </a:extLst>
          </p:cNvPr>
          <p:cNvSpPr>
            <a:spLocks noGrp="1"/>
          </p:cNvSpPr>
          <p:nvPr/>
        </p:nvSpPr>
        <p:spPr>
          <a:xfrm>
            <a:off x="400050" y="361950"/>
            <a:ext cx="2857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50" b="1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555555"/>
                </a:solidFill>
                <a:latin typeface="Helvetica Neue"/>
                <a:ea typeface="Helvetica Neue"/>
                <a:cs typeface="Helvetica Neue"/>
              </a:rPr>
              <a:t>DAY 2 MORNING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C67F54E3-78C4-426F-8172-5406189C8CF4}"/>
              </a:ext>
            </a:extLst>
          </p:cNvPr>
          <p:cNvSpPr>
            <a:spLocks noGrp="1"/>
          </p:cNvSpPr>
          <p:nvPr/>
        </p:nvSpPr>
        <p:spPr>
          <a:xfrm>
            <a:off x="400050" y="781050"/>
            <a:ext cx="7905750" cy="1238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36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6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Day 2 turns mechanisms into fitted forecasts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515836AD-5B91-472A-92B3-044893FB1F46}"/>
              </a:ext>
            </a:extLst>
          </p:cNvPr>
          <p:cNvSpPr>
            <a:spLocks noGrp="1"/>
          </p:cNvSpPr>
          <p:nvPr/>
        </p:nvSpPr>
        <p:spPr>
          <a:xfrm>
            <a:off x="400050" y="2019300"/>
            <a:ext cx="7239000" cy="628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650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 dirty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rPr>
              <a:t>The agenda follows the same question all day: how do we choose parameters that make a model agree with data?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6DC65B13-3E01-47FC-839F-916860851CC5}"/>
              </a:ext>
            </a:extLst>
          </p:cNvPr>
          <p:cNvSpPr>
            <a:spLocks noGrp="1"/>
          </p:cNvSpPr>
          <p:nvPr/>
        </p:nvSpPr>
        <p:spPr>
          <a:xfrm>
            <a:off x="400050" y="6343650"/>
            <a:ext cx="11391900" cy="9525"/>
          </a:xfrm>
          <a:prstGeom prst="rect">
            <a:avLst/>
          </a:prstGeom>
          <a:solidFill>
            <a:srgbClr val="B8BCC4"/>
          </a:solidFill>
          <a:ln w="0">
            <a:solidFill>
              <a:srgbClr val="B8BCC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17623272-7537-44B1-B813-B78E2DBD4E7A}"/>
              </a:ext>
            </a:extLst>
          </p:cNvPr>
          <p:cNvSpPr>
            <a:spLocks noGrp="1"/>
          </p:cNvSpPr>
          <p:nvPr/>
        </p:nvSpPr>
        <p:spPr>
          <a:xfrm>
            <a:off x="685800" y="3067050"/>
            <a:ext cx="10668000" cy="9525"/>
          </a:xfrm>
          <a:prstGeom prst="rect">
            <a:avLst/>
          </a:prstGeom>
          <a:solidFill>
            <a:srgbClr val="000000"/>
          </a:solidFill>
          <a:ln w="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5B1FB69C-6411-4749-814B-480632CAE90C}"/>
              </a:ext>
            </a:extLst>
          </p:cNvPr>
          <p:cNvSpPr>
            <a:spLocks noGrp="1"/>
          </p:cNvSpPr>
          <p:nvPr/>
        </p:nvSpPr>
        <p:spPr>
          <a:xfrm>
            <a:off x="723900" y="3200400"/>
            <a:ext cx="1333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1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555555"/>
                </a:solidFill>
                <a:latin typeface="Helvetica Neue"/>
                <a:ea typeface="Helvetica Neue"/>
                <a:cs typeface="Helvetica Neue"/>
              </a:rPr>
              <a:t>Session 1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883F9705-12C4-4151-A3B0-63EED9082D3E}"/>
              </a:ext>
            </a:extLst>
          </p:cNvPr>
          <p:cNvSpPr>
            <a:spLocks noGrp="1"/>
          </p:cNvSpPr>
          <p:nvPr/>
        </p:nvSpPr>
        <p:spPr>
          <a:xfrm>
            <a:off x="2343150" y="3124200"/>
            <a:ext cx="34290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87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Simulating dynamical systems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12BFB197-CAA3-44EE-BC88-0A6E8B4E5839}"/>
              </a:ext>
            </a:extLst>
          </p:cNvPr>
          <p:cNvSpPr>
            <a:spLocks noGrp="1"/>
          </p:cNvSpPr>
          <p:nvPr/>
        </p:nvSpPr>
        <p:spPr>
          <a:xfrm>
            <a:off x="6096000" y="3143250"/>
            <a:ext cx="49530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rPr>
              <a:t>ODEs, Euler's method, logistic growth, and two-dimensional dynamics.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113C54F2-6F0A-4984-9152-8DF889762528}"/>
              </a:ext>
            </a:extLst>
          </p:cNvPr>
          <p:cNvSpPr>
            <a:spLocks noGrp="1"/>
          </p:cNvSpPr>
          <p:nvPr/>
        </p:nvSpPr>
        <p:spPr>
          <a:xfrm>
            <a:off x="685800" y="3810000"/>
            <a:ext cx="10668000" cy="9525"/>
          </a:xfrm>
          <a:prstGeom prst="rect">
            <a:avLst/>
          </a:prstGeom>
          <a:solidFill>
            <a:srgbClr val="B8BCC4"/>
          </a:solidFill>
          <a:ln w="0">
            <a:solidFill>
              <a:srgbClr val="B8BCC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96CA1A32-E956-443E-9069-83247BF4118F}"/>
              </a:ext>
            </a:extLst>
          </p:cNvPr>
          <p:cNvSpPr>
            <a:spLocks noGrp="1"/>
          </p:cNvSpPr>
          <p:nvPr/>
        </p:nvSpPr>
        <p:spPr>
          <a:xfrm>
            <a:off x="723900" y="3943350"/>
            <a:ext cx="1333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1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555555"/>
                </a:solidFill>
                <a:latin typeface="Helvetica Neue"/>
                <a:ea typeface="Helvetica Neue"/>
                <a:cs typeface="Helvetica Neue"/>
              </a:rPr>
              <a:t>Session 2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1AB89B24-9F74-44AA-8179-1B0C00614E03}"/>
              </a:ext>
            </a:extLst>
          </p:cNvPr>
          <p:cNvSpPr>
            <a:spLocks noGrp="1"/>
          </p:cNvSpPr>
          <p:nvPr/>
        </p:nvSpPr>
        <p:spPr>
          <a:xfrm>
            <a:off x="2343150" y="3867150"/>
            <a:ext cx="34290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87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 dirty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Compartmental epidemic models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61A59E82-8CF2-43B9-BFD4-376CAA7B2A80}"/>
              </a:ext>
            </a:extLst>
          </p:cNvPr>
          <p:cNvSpPr>
            <a:spLocks noGrp="1"/>
          </p:cNvSpPr>
          <p:nvPr/>
        </p:nvSpPr>
        <p:spPr>
          <a:xfrm>
            <a:off x="6096000" y="3886200"/>
            <a:ext cx="49530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rPr>
              <a:t>SIR structure, infection and recovery rates, and drawing larger models.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1C5F247-6F42-4440-83AF-413765A0811C}"/>
              </a:ext>
            </a:extLst>
          </p:cNvPr>
          <p:cNvSpPr>
            <a:spLocks noGrp="1"/>
          </p:cNvSpPr>
          <p:nvPr/>
        </p:nvSpPr>
        <p:spPr>
          <a:xfrm>
            <a:off x="685800" y="4552950"/>
            <a:ext cx="10668000" cy="9525"/>
          </a:xfrm>
          <a:prstGeom prst="rect">
            <a:avLst/>
          </a:prstGeom>
          <a:solidFill>
            <a:srgbClr val="B8BCC4"/>
          </a:solidFill>
          <a:ln w="0">
            <a:solidFill>
              <a:srgbClr val="B8BCC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5C127514-84F3-4EE3-B95F-1EE4F75E85E1}"/>
              </a:ext>
            </a:extLst>
          </p:cNvPr>
          <p:cNvSpPr>
            <a:spLocks noGrp="1"/>
          </p:cNvSpPr>
          <p:nvPr/>
        </p:nvSpPr>
        <p:spPr>
          <a:xfrm>
            <a:off x="723900" y="4686300"/>
            <a:ext cx="1333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1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555555"/>
                </a:solidFill>
                <a:latin typeface="Helvetica Neue"/>
                <a:ea typeface="Helvetica Neue"/>
                <a:cs typeface="Helvetica Neue"/>
              </a:rPr>
              <a:t>Session 3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3B55456F-C1AE-47A2-BB95-177A04D0D819}"/>
              </a:ext>
            </a:extLst>
          </p:cNvPr>
          <p:cNvSpPr>
            <a:spLocks noGrp="1"/>
          </p:cNvSpPr>
          <p:nvPr/>
        </p:nvSpPr>
        <p:spPr>
          <a:xfrm>
            <a:off x="2343150" y="4610100"/>
            <a:ext cx="34290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87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 dirty="0">
                <a:solidFill>
                  <a:srgbClr val="000000"/>
                </a:solidFill>
                <a:latin typeface="Helvetica Neue"/>
              </a:rPr>
              <a:t>Grid search with real flu data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99904C8E-BDF5-4C32-B822-3FCA66EF8D30}"/>
              </a:ext>
            </a:extLst>
          </p:cNvPr>
          <p:cNvSpPr>
            <a:spLocks noGrp="1"/>
          </p:cNvSpPr>
          <p:nvPr/>
        </p:nvSpPr>
        <p:spPr>
          <a:xfrm>
            <a:off x="6096000" y="4629150"/>
            <a:ext cx="49530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 dirty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rPr>
              <a:t>Train/forecast split, loss function, beta-gamma grid, and loss surface.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23EA1C85-7765-403E-A9F0-FE4FF38551FB}"/>
              </a:ext>
            </a:extLst>
          </p:cNvPr>
          <p:cNvSpPr>
            <a:spLocks noGrp="1"/>
          </p:cNvSpPr>
          <p:nvPr/>
        </p:nvSpPr>
        <p:spPr>
          <a:xfrm>
            <a:off x="685800" y="5295900"/>
            <a:ext cx="10668000" cy="9525"/>
          </a:xfrm>
          <a:prstGeom prst="rect">
            <a:avLst/>
          </a:prstGeom>
          <a:solidFill>
            <a:srgbClr val="B8BCC4"/>
          </a:solidFill>
          <a:ln w="0">
            <a:solidFill>
              <a:srgbClr val="B8BCC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915E8ED7-1632-4EF8-AA80-509D1A686A16}"/>
              </a:ext>
            </a:extLst>
          </p:cNvPr>
          <p:cNvSpPr>
            <a:spLocks noGrp="1"/>
          </p:cNvSpPr>
          <p:nvPr/>
        </p:nvSpPr>
        <p:spPr>
          <a:xfrm>
            <a:off x="723900" y="5429250"/>
            <a:ext cx="1333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1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555555"/>
                </a:solidFill>
                <a:latin typeface="Helvetica Neue"/>
                <a:ea typeface="Helvetica Neue"/>
                <a:cs typeface="Helvetica Neue"/>
              </a:rPr>
              <a:t>Session 4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0FBA97E2-0557-4B7A-81F4-673A34E8C62D}"/>
              </a:ext>
            </a:extLst>
          </p:cNvPr>
          <p:cNvSpPr>
            <a:spLocks noGrp="1"/>
          </p:cNvSpPr>
          <p:nvPr/>
        </p:nvSpPr>
        <p:spPr>
          <a:xfrm>
            <a:off x="2343150" y="5353050"/>
            <a:ext cx="34290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87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Optimization and gradient descent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0F87B0AD-C1EA-44F3-8501-E4AF852B92E8}"/>
              </a:ext>
            </a:extLst>
          </p:cNvPr>
          <p:cNvSpPr>
            <a:spLocks noGrp="1"/>
          </p:cNvSpPr>
          <p:nvPr/>
        </p:nvSpPr>
        <p:spPr>
          <a:xfrm>
            <a:off x="6096000" y="5372100"/>
            <a:ext cx="49530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rPr>
              <a:t>Automatic differentiation and gradient descent on the model loss.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7DF0567C-8E30-45F8-B3A6-A2743C8EECD4}"/>
              </a:ext>
            </a:extLst>
          </p:cNvPr>
          <p:cNvSpPr>
            <a:spLocks noGrp="1"/>
          </p:cNvSpPr>
          <p:nvPr/>
        </p:nvSpPr>
        <p:spPr>
          <a:xfrm>
            <a:off x="1104900" y="5962650"/>
            <a:ext cx="98107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57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 dirty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By the end of Day 2, </a:t>
            </a:r>
            <a:r>
              <a:rPr lang="en-US" sz="1575" b="1" dirty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you</a:t>
            </a:r>
            <a:r>
              <a:rPr sz="1575" b="1" dirty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 have fit an SIR model to flu hospitalization data and seen two parameter-search strategies.</a:t>
            </a:r>
          </a:p>
        </p:txBody>
      </p:sp>
    </p:spTree>
    <p:extLst>
      <p:ext uri="{BB962C8B-B14F-4D97-AF65-F5344CB8AC3E}">
        <p14:creationId xmlns:p14="http://schemas.microsoft.com/office/powerpoint/2010/main" val="60704033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D70E361A-7070-189B-F776-EC7E8DFE97E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1015" y="0"/>
            <a:ext cx="1064997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74120873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575</Words>
  <Application>Microsoft Office PowerPoint</Application>
  <DocSecurity>0</DocSecurity>
  <PresentationFormat>Widescreen</PresentationFormat>
  <Paragraphs>77</Paragraphs>
  <Slides>6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1" baseType="lpstr">
      <vt:lpstr>Helvetica Neue</vt:lpstr>
      <vt:lpstr>Arial</vt:lpstr>
      <vt:lpstr>Calibri</vt:lpstr>
      <vt:lpstr>Cambria</vt:lpstr>
      <vt:lpstr>ChatGPT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Ye Chen</cp:lastModifiedBy>
  <cp:revision>4</cp:revision>
  <dcterms:created xsi:type="dcterms:W3CDTF">2026-07-09T12:35:39Z</dcterms:created>
  <dcterms:modified xsi:type="dcterms:W3CDTF">2026-07-09T12:56:28Z</dcterms:modified>
</cp:coreProperties>
</file>